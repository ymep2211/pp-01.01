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57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74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81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196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8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77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4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432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6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588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45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43902-2D07-4BD7-8D8E-D96F1D4B80A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124CE-C2FD-4414-8D02-852A602C1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189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ivanon@mail.ru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97554" y="2583699"/>
            <a:ext cx="9181148" cy="1470025"/>
          </a:xfrm>
        </p:spPr>
        <p:txBody>
          <a:bodyPr>
            <a:noAutofit/>
          </a:bodyPr>
          <a:lstStyle/>
          <a:p>
            <a:r>
              <a:rPr lang="ru-RU" sz="3600" dirty="0"/>
              <a:t>по производственной практике</a:t>
            </a:r>
            <a:br>
              <a:rPr lang="ru-RU" sz="3600" dirty="0"/>
            </a:br>
            <a:r>
              <a:rPr lang="ru-RU" sz="3600" dirty="0"/>
              <a:t>по профессиональному модулю</a:t>
            </a:r>
            <a:br>
              <a:rPr lang="ru-RU" sz="3600" dirty="0"/>
            </a:br>
            <a:r>
              <a:rPr lang="ru-RU" sz="3600" b="1" dirty="0"/>
              <a:t>ПМ.01. РАЗРАБОТКА МОДУЛЕЙ ПРОГРАММНОГО ОБЕСПЕЧЕНИЯ ДЛЯ КОМПЬЮТЕРНЫХ </a:t>
            </a:r>
            <a:r>
              <a:rPr lang="ru-RU" sz="3600" b="1" dirty="0" smtClean="0"/>
              <a:t>СИСТЕМ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021237" y="4704348"/>
            <a:ext cx="4475439" cy="1752600"/>
          </a:xfrm>
        </p:spPr>
        <p:txBody>
          <a:bodyPr>
            <a:noAutofit/>
          </a:bodyPr>
          <a:lstStyle/>
          <a:p>
            <a:pPr algn="l"/>
            <a:r>
              <a:rPr lang="ru-RU" sz="1800" spc="-1" dirty="0">
                <a:latin typeface="Century Gothic"/>
              </a:rPr>
              <a:t>Выполнил</a:t>
            </a:r>
            <a:r>
              <a:rPr lang="en-US" sz="1800" spc="-1" dirty="0">
                <a:latin typeface="Century Gothic"/>
              </a:rPr>
              <a:t>: </a:t>
            </a:r>
            <a:r>
              <a:rPr lang="ru-RU" sz="1800" spc="-1" dirty="0">
                <a:latin typeface="Century Gothic"/>
              </a:rPr>
              <a:t>студент группы ИС(ТП</a:t>
            </a:r>
            <a:r>
              <a:rPr lang="ru-RU" sz="1800" spc="-1" dirty="0" smtClean="0">
                <a:latin typeface="Century Gothic"/>
              </a:rPr>
              <a:t>)-41</a:t>
            </a:r>
            <a:r>
              <a:rPr lang="en-US" sz="1800" spc="-1" dirty="0">
                <a:latin typeface="Century Gothic"/>
              </a:rPr>
              <a:t>,</a:t>
            </a:r>
            <a:endParaRPr lang="ru-RU" sz="1800" spc="-1" dirty="0">
              <a:latin typeface="Century Gothic"/>
            </a:endParaRPr>
          </a:p>
          <a:p>
            <a:pPr algn="l"/>
            <a:r>
              <a:rPr lang="ru-RU" sz="1800" spc="-1" dirty="0" smtClean="0">
                <a:latin typeface="Century Gothic"/>
              </a:rPr>
              <a:t>Гуляев Дмитрий Витальевич</a:t>
            </a:r>
            <a:endParaRPr lang="ru-RU" sz="1800" spc="-1" dirty="0">
              <a:latin typeface="Century Gothic"/>
            </a:endParaRPr>
          </a:p>
          <a:p>
            <a:pPr algn="l"/>
            <a:r>
              <a:rPr lang="ru-RU" sz="1800" spc="-1" dirty="0">
                <a:latin typeface="Century Gothic"/>
              </a:rPr>
              <a:t>Руководитель</a:t>
            </a:r>
            <a:r>
              <a:rPr lang="en-US" sz="1800" spc="-1" dirty="0">
                <a:latin typeface="Century Gothic"/>
              </a:rPr>
              <a:t>:</a:t>
            </a:r>
            <a:endParaRPr lang="ru-RU" sz="1800" spc="-1" dirty="0">
              <a:latin typeface="Century Gothic"/>
            </a:endParaRPr>
          </a:p>
          <a:p>
            <a:pPr algn="l"/>
            <a:r>
              <a:rPr lang="ru-RU" sz="1800" spc="-1" dirty="0" err="1" smtClean="0">
                <a:latin typeface="Century Gothic"/>
              </a:rPr>
              <a:t>Заливаха</a:t>
            </a:r>
            <a:r>
              <a:rPr lang="ru-RU" sz="1800" spc="-1" dirty="0" smtClean="0">
                <a:latin typeface="Century Gothic"/>
              </a:rPr>
              <a:t> Анастасия Владимировна</a:t>
            </a:r>
            <a:endParaRPr lang="ru-RU" sz="1800" spc="-1" dirty="0">
              <a:latin typeface="Century Gothic"/>
            </a:endParaRPr>
          </a:p>
          <a:p>
            <a:pPr algn="l"/>
            <a:endParaRPr lang="ru-RU" sz="2000" spc="-1" dirty="0">
              <a:latin typeface="Century Gothic"/>
            </a:endParaRPr>
          </a:p>
          <a:p>
            <a:pPr algn="l"/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664473" y="224589"/>
            <a:ext cx="8907438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Республики Хакасия «Хакасский политехнический колледж»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Специальность 09.02.07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Информационные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системы и программирование 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квалификация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«Технический писатель»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spc="-1" dirty="0">
              <a:latin typeface="Arial"/>
            </a:endParaRP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155020" y="6359786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  <a:cs typeface="Arial" panose="020B0604020202020204" pitchFamily="34" charset="0"/>
              </a:rPr>
              <a:t>Абакан, 2025г.</a:t>
            </a:r>
          </a:p>
        </p:txBody>
      </p:sp>
    </p:spTree>
    <p:extLst>
      <p:ext uri="{BB962C8B-B14F-4D97-AF65-F5344CB8AC3E}">
        <p14:creationId xmlns:p14="http://schemas.microsoft.com/office/powerpoint/2010/main" val="79197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4891" y="343949"/>
            <a:ext cx="2457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Введение</a:t>
            </a:r>
            <a:endParaRPr lang="ru-RU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436227" y="1051835"/>
            <a:ext cx="113922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Целью работы является повышение эффективности деятельности интернет провайдера «Скат» за счет анализа существующих бизнес-процессов и разработки программного модуля, автоматизирующего учет клиентов</a:t>
            </a:r>
            <a:r>
              <a:rPr lang="ru-RU" sz="2200" dirty="0" smtClean="0"/>
              <a:t>.</a:t>
            </a:r>
          </a:p>
          <a:p>
            <a:r>
              <a:rPr lang="ru-RU" sz="2200" dirty="0"/>
              <a:t>Для достижения поставленной цели в работе решаются следующие задачи:</a:t>
            </a:r>
          </a:p>
          <a:p>
            <a:pPr marL="540000" lvl="0" indent="-285750">
              <a:buFont typeface="Arial" panose="020B0604020202020204" pitchFamily="34" charset="0"/>
              <a:buChar char="•"/>
            </a:pPr>
            <a:r>
              <a:rPr lang="ru-RU" sz="2200" dirty="0"/>
              <a:t>Провести анализ текущей информационной системы </a:t>
            </a:r>
            <a:r>
              <a:rPr lang="ru-RU" sz="2200" dirty="0" smtClean="0"/>
              <a:t>предприятия.</a:t>
            </a:r>
            <a:endParaRPr lang="ru-RU" sz="2200" dirty="0"/>
          </a:p>
          <a:p>
            <a:pPr marL="540000" lvl="0" indent="-285750">
              <a:buFont typeface="Arial" panose="020B0604020202020204" pitchFamily="34" charset="0"/>
              <a:buChar char="•"/>
            </a:pPr>
            <a:r>
              <a:rPr lang="ru-RU" sz="2200" dirty="0"/>
              <a:t>Исследовать рынок готовых программных решений для автоматизации.</a:t>
            </a:r>
          </a:p>
          <a:p>
            <a:pPr marL="540000" lvl="0" indent="-285750">
              <a:buFont typeface="Arial" panose="020B0604020202020204" pitchFamily="34" charset="0"/>
              <a:buChar char="•"/>
            </a:pPr>
            <a:r>
              <a:rPr lang="ru-RU" sz="2200" dirty="0" smtClean="0"/>
              <a:t>Сформулировать </a:t>
            </a:r>
            <a:r>
              <a:rPr lang="ru-RU" sz="2200" dirty="0"/>
              <a:t>технические требования к </a:t>
            </a:r>
            <a:r>
              <a:rPr lang="ru-RU" sz="2200" dirty="0" smtClean="0"/>
              <a:t>функционалу и интерфейсу.</a:t>
            </a:r>
            <a:endParaRPr lang="ru-RU" sz="2200" dirty="0"/>
          </a:p>
          <a:p>
            <a:pPr marL="540000" lvl="0" indent="-285750">
              <a:buFont typeface="Arial" panose="020B0604020202020204" pitchFamily="34" charset="0"/>
              <a:buChar char="•"/>
            </a:pPr>
            <a:r>
              <a:rPr lang="ru-RU" sz="2200" dirty="0"/>
              <a:t>Осуществить проектирование базы данных, пользовательского интерфейса и ключевых модулей программного комплекса.</a:t>
            </a:r>
          </a:p>
          <a:p>
            <a:pPr marL="540000" lvl="0" indent="-285750">
              <a:buFont typeface="Arial" panose="020B0604020202020204" pitchFamily="34" charset="0"/>
              <a:buChar char="•"/>
            </a:pPr>
            <a:r>
              <a:rPr lang="ru-RU" sz="2200" dirty="0"/>
              <a:t>Реализовать основной функционал </a:t>
            </a:r>
            <a:r>
              <a:rPr lang="ru-RU" sz="2200" dirty="0" smtClean="0"/>
              <a:t>системы.</a:t>
            </a:r>
            <a:endParaRPr lang="ru-RU" sz="2200" dirty="0"/>
          </a:p>
          <a:p>
            <a:pPr algn="just"/>
            <a:r>
              <a:rPr lang="ru-RU" sz="2200" dirty="0"/>
              <a:t>Объектом исследования и проектирования в рамках производственной практики выступают бизнес-процессы учета клиентов, управления тарифами и выставления счетов в компании «Скат».</a:t>
            </a:r>
          </a:p>
          <a:p>
            <a:pPr algn="just"/>
            <a:r>
              <a:rPr lang="ru-RU" sz="2200" dirty="0"/>
              <a:t>Предметом исследования является анализ возможностей автоматизации указанных процессов и создание функционального прототипа специализированного программного обеспечения для учёта абонентов и расчетов.</a:t>
            </a:r>
          </a:p>
          <a:p>
            <a:endParaRPr lang="ru-RU" sz="2200" dirty="0"/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26502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890" y="343949"/>
            <a:ext cx="8347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Анализ деятельности предприятия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377504" y="1865567"/>
            <a:ext cx="113922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«</a:t>
            </a:r>
            <a:r>
              <a:rPr lang="ru-RU" sz="2400" dirty="0" smtClean="0"/>
              <a:t>Скат» осуществляет </a:t>
            </a:r>
            <a:r>
              <a:rPr lang="ru-RU" sz="2400" dirty="0"/>
              <a:t>деятельность в сфере предоставления услуг доступа к сети Интернет и кабельного телевидения.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В </a:t>
            </a:r>
            <a:r>
              <a:rPr lang="ru-RU" sz="2400" dirty="0"/>
              <a:t>ходе исследования установлено, что в деятельности предприятия используется комплексная информационная система на базе платформы Битрикс24, а также система 1С для бухгалтерского </a:t>
            </a:r>
            <a:r>
              <a:rPr lang="ru-RU" sz="2400" dirty="0" smtClean="0"/>
              <a:t>учета.</a:t>
            </a:r>
          </a:p>
          <a:p>
            <a:r>
              <a:rPr lang="ru-RU" sz="2400" dirty="0" smtClean="0"/>
              <a:t>При </a:t>
            </a:r>
            <a:r>
              <a:rPr lang="ru-RU" sz="2400" dirty="0"/>
              <a:t>этом информация об абонентах, тарифах и платежах хранится разрозненно, что затрудняет оперативный доступ к данным и усложняет контроль финансовых операций и обращений клиентов.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937" y="-396949"/>
            <a:ext cx="2533476" cy="253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2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890" y="343949"/>
            <a:ext cx="11870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/>
              <a:t>Разработка диаграмм </a:t>
            </a:r>
            <a:r>
              <a:rPr lang="en-US" sz="4000" b="1" dirty="0"/>
              <a:t>IDEF</a:t>
            </a:r>
            <a:r>
              <a:rPr lang="ru-RU" sz="4000" b="1" dirty="0"/>
              <a:t>0 информационных процессов предприятия</a:t>
            </a:r>
            <a:endParaRPr lang="ru-RU" sz="4000" dirty="0"/>
          </a:p>
        </p:txBody>
      </p:sp>
      <p:pic>
        <p:nvPicPr>
          <p:cNvPr id="9" name="Рисунок 8" descr="C:\Users\User\Music\PP 01.01\Диаграммы\IDEF0 0ур ПП.drawi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950" y="1915061"/>
            <a:ext cx="6682219" cy="41250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006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C:\Users\User\Music\PP 01.01\Диаграммы\IDEF0 1ур ПП.drawio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02" y="178896"/>
            <a:ext cx="11760077" cy="65910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523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890" y="343949"/>
            <a:ext cx="9882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Анализ предметной области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335559" y="1051835"/>
            <a:ext cx="117110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предметной области </a:t>
            </a:r>
            <a:r>
              <a:rPr lang="ru-RU" sz="2400" dirty="0" smtClean="0"/>
              <a:t>интернет провайдера </a:t>
            </a:r>
            <a:r>
              <a:rPr lang="ru-RU" sz="2400" dirty="0"/>
              <a:t>выделены основные бизнес-процессы</a:t>
            </a:r>
            <a:r>
              <a:rPr lang="ru-RU" sz="24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</a:t>
            </a:r>
            <a:r>
              <a:rPr lang="ru-RU" sz="2400" dirty="0" smtClean="0"/>
              <a:t>одключение </a:t>
            </a:r>
            <a:r>
              <a:rPr lang="ru-RU" sz="2400" dirty="0"/>
              <a:t>новых </a:t>
            </a:r>
            <a:r>
              <a:rPr lang="ru-RU" sz="2400" dirty="0" smtClean="0"/>
              <a:t>абонентов,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сопровождение </a:t>
            </a:r>
            <a:r>
              <a:rPr lang="ru-RU" sz="2400" dirty="0"/>
              <a:t>действующих </a:t>
            </a:r>
            <a:r>
              <a:rPr lang="ru-RU" sz="2400" dirty="0" smtClean="0"/>
              <a:t>клиентов,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управление тарифами,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учет </a:t>
            </a:r>
            <a:r>
              <a:rPr lang="ru-RU" sz="2400" dirty="0"/>
              <a:t>платежей и обработка заявок на техническую поддержку. </a:t>
            </a:r>
            <a:endParaRPr lang="ru-RU" sz="2400" dirty="0" smtClean="0"/>
          </a:p>
          <a:p>
            <a:r>
              <a:rPr lang="ru-RU" sz="2400" dirty="0"/>
              <a:t>Участниками предметной области являются абоненты, сотрудники абонентского </a:t>
            </a:r>
            <a:r>
              <a:rPr lang="ru-RU" sz="2400" dirty="0" smtClean="0"/>
              <a:t>отдела. Абоненты </a:t>
            </a:r>
            <a:r>
              <a:rPr lang="ru-RU" sz="2400" dirty="0"/>
              <a:t>взаимодействуют с компанией посредством сайта, телефонной связи и личных обращений, оставляют заявки, заключают договоры, выбирают тарифы, получают счета и осуществляют оплату услуг. </a:t>
            </a:r>
            <a:endParaRPr lang="ru-RU" sz="2400" dirty="0" smtClean="0"/>
          </a:p>
          <a:p>
            <a:r>
              <a:rPr lang="ru-RU" sz="2400" dirty="0" smtClean="0"/>
              <a:t>Сотрудники </a:t>
            </a:r>
            <a:r>
              <a:rPr lang="ru-RU" sz="2400" dirty="0"/>
              <a:t>абонентского отдела выполняют консультации, оформляют договоры и регистрируют данные в информационных системах. </a:t>
            </a:r>
            <a:endParaRPr lang="ru-RU" sz="2400" dirty="0" smtClean="0"/>
          </a:p>
          <a:p>
            <a:r>
              <a:rPr lang="ru-RU" sz="2400" dirty="0" smtClean="0"/>
              <a:t>Типовой </a:t>
            </a:r>
            <a:r>
              <a:rPr lang="ru-RU" sz="2400" dirty="0"/>
              <a:t>процесс работы с новым абонентом начинается с подачи заявки через сайт или по телефону, после чего заявка регистрируется сотрудником абонентского отдела. Далее осуществляется проверка технической возможности подключения, заключение договора и назначение тарифного плана. </a:t>
            </a:r>
          </a:p>
        </p:txBody>
      </p:sp>
    </p:spTree>
    <p:extLst>
      <p:ext uri="{BB962C8B-B14F-4D97-AF65-F5344CB8AC3E}">
        <p14:creationId xmlns:p14="http://schemas.microsoft.com/office/powerpoint/2010/main" val="416111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890" y="343949"/>
            <a:ext cx="9882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Анализ аналогов</a:t>
            </a:r>
            <a:endParaRPr lang="ru-RU" sz="40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34890" y="1164462"/>
          <a:ext cx="11484529" cy="49759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17367">
                  <a:extLst>
                    <a:ext uri="{9D8B030D-6E8A-4147-A177-3AD203B41FA5}">
                      <a16:colId xmlns:a16="http://schemas.microsoft.com/office/drawing/2014/main" val="617031678"/>
                    </a:ext>
                  </a:extLst>
                </a:gridCol>
                <a:gridCol w="3338818">
                  <a:extLst>
                    <a:ext uri="{9D8B030D-6E8A-4147-A177-3AD203B41FA5}">
                      <a16:colId xmlns:a16="http://schemas.microsoft.com/office/drawing/2014/main" val="4269288547"/>
                    </a:ext>
                  </a:extLst>
                </a:gridCol>
                <a:gridCol w="2667699">
                  <a:extLst>
                    <a:ext uri="{9D8B030D-6E8A-4147-A177-3AD203B41FA5}">
                      <a16:colId xmlns:a16="http://schemas.microsoft.com/office/drawing/2014/main" val="2518585037"/>
                    </a:ext>
                  </a:extLst>
                </a:gridCol>
                <a:gridCol w="2860645">
                  <a:extLst>
                    <a:ext uri="{9D8B030D-6E8A-4147-A177-3AD203B41FA5}">
                      <a16:colId xmlns:a16="http://schemas.microsoft.com/office/drawing/2014/main" val="2896210881"/>
                    </a:ext>
                  </a:extLst>
                </a:gridCol>
              </a:tblGrid>
              <a:tr h="1717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Критерий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err="1">
                          <a:effectLst/>
                        </a:rPr>
                        <a:t>BillingMaster</a:t>
                      </a:r>
                      <a:r>
                        <a:rPr lang="ru-RU" sz="1400" b="1" dirty="0">
                          <a:effectLst/>
                        </a:rPr>
                        <a:t> </a:t>
                      </a:r>
                      <a:r>
                        <a:rPr lang="ru-RU" sz="1400" b="1" dirty="0" err="1">
                          <a:effectLst/>
                        </a:rPr>
                        <a:t>Pro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err="1">
                          <a:effectLst/>
                        </a:rPr>
                        <a:t>CloudBills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err="1">
                          <a:effectLst/>
                        </a:rPr>
                        <a:t>Bill</a:t>
                      </a:r>
                      <a:r>
                        <a:rPr lang="ru-RU" sz="1400" b="1" dirty="0">
                          <a:effectLst/>
                        </a:rPr>
                        <a:t> </a:t>
                      </a:r>
                      <a:r>
                        <a:rPr lang="ru-RU" sz="1400" b="1" dirty="0" err="1">
                          <a:effectLst/>
                        </a:rPr>
                        <a:t>Manager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extLst>
                  <a:ext uri="{0D108BD9-81ED-4DB2-BD59-A6C34878D82A}">
                    <a16:rowId xmlns:a16="http://schemas.microsoft.com/office/drawing/2014/main" val="2670912378"/>
                  </a:ext>
                </a:extLst>
              </a:tr>
              <a:tr h="6297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Затраты на внедрение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Очень высокие – требуется настройка и обучение персонала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Низкие – запускается сразу в облаке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Средние – оплачивается лицензия и установка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extLst>
                  <a:ext uri="{0D108BD9-81ED-4DB2-BD59-A6C34878D82A}">
                    <a16:rowId xmlns:a16="http://schemas.microsoft.com/office/drawing/2014/main" val="1892867585"/>
                  </a:ext>
                </a:extLst>
              </a:tr>
              <a:tr h="6870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Специализация под интернет провайдеров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Полная, включает телеком-функции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Частичная, общая структура для бизнеса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Отсутствует, система универсальная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extLst>
                  <a:ext uri="{0D108BD9-81ED-4DB2-BD59-A6C34878D82A}">
                    <a16:rowId xmlns:a16="http://schemas.microsoft.com/office/drawing/2014/main" val="4047993655"/>
                  </a:ext>
                </a:extLst>
              </a:tr>
              <a:tr h="6297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Автоматизация начислений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Полностью автоматизирована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Частичная, зависит от тарифа подписки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Слабая, большинство операций вручную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extLst>
                  <a:ext uri="{0D108BD9-81ED-4DB2-BD59-A6C34878D82A}">
                    <a16:rowId xmlns:a16="http://schemas.microsoft.com/office/drawing/2014/main" val="2493109168"/>
                  </a:ext>
                </a:extLst>
              </a:tr>
              <a:tr h="7443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Обработка платежей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Глубоко интегрированы платёжные механизмы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Поддерживается, но ограничена облаком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Простая фиксация факта оплаты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extLst>
                  <a:ext uri="{0D108BD9-81ED-4DB2-BD59-A6C34878D82A}">
                    <a16:rowId xmlns:a16="http://schemas.microsoft.com/office/drawing/2014/main" val="2834112503"/>
                  </a:ext>
                </a:extLst>
              </a:tr>
              <a:tr h="3435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Наличие аналитики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Расширенная аналитика + отчёты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Базовая аналитика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Минимальная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extLst>
                  <a:ext uri="{0D108BD9-81ED-4DB2-BD59-A6C34878D82A}">
                    <a16:rowId xmlns:a16="http://schemas.microsoft.com/office/drawing/2014/main" val="164839773"/>
                  </a:ext>
                </a:extLst>
              </a:tr>
              <a:tr h="1717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Гибкость настройки тарифов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Высокая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Средняя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Низкая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extLst>
                  <a:ext uri="{0D108BD9-81ED-4DB2-BD59-A6C34878D82A}">
                    <a16:rowId xmlns:a16="http://schemas.microsoft.com/office/drawing/2014/main" val="1858207700"/>
                  </a:ext>
                </a:extLst>
              </a:tr>
              <a:tr h="2862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Интеграции с другими системами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Высокий уровень интеграций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Ограниченные API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Практически отсутствуют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extLst>
                  <a:ext uri="{0D108BD9-81ED-4DB2-BD59-A6C34878D82A}">
                    <a16:rowId xmlns:a16="http://schemas.microsoft.com/office/drawing/2014/main" val="3095931133"/>
                  </a:ext>
                </a:extLst>
              </a:tr>
              <a:tr h="3435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Зависимость от интернета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Не зависит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Полностью зависит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Не зависит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extLst>
                  <a:ext uri="{0D108BD9-81ED-4DB2-BD59-A6C34878D82A}">
                    <a16:rowId xmlns:a16="http://schemas.microsoft.com/office/drawing/2014/main" val="4180323868"/>
                  </a:ext>
                </a:extLst>
              </a:tr>
              <a:tr h="1717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Уровень сложности интерфейса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Сложный, для специалистов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Средний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Простой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extLst>
                  <a:ext uri="{0D108BD9-81ED-4DB2-BD59-A6C34878D82A}">
                    <a16:rowId xmlns:a16="http://schemas.microsoft.com/office/drawing/2014/main" val="3653550705"/>
                  </a:ext>
                </a:extLst>
              </a:tr>
              <a:tr h="1717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Экономическая целесообразность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Низкая для маленьких провайдеров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Средняя</a:t>
                      </a:r>
                      <a:endParaRPr lang="ru-RU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Высокая при низком бюджете</a:t>
                      </a:r>
                      <a:endParaRPr lang="ru-RU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079" marR="24079" marT="0" marB="0"/>
                </a:tc>
                <a:extLst>
                  <a:ext uri="{0D108BD9-81ED-4DB2-BD59-A6C34878D82A}">
                    <a16:rowId xmlns:a16="http://schemas.microsoft.com/office/drawing/2014/main" val="2832724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974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890" y="343949"/>
            <a:ext cx="9882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Проектирование программного модуля</a:t>
            </a:r>
            <a:endParaRPr lang="ru-RU" sz="4000" dirty="0"/>
          </a:p>
        </p:txBody>
      </p:sp>
      <p:pic>
        <p:nvPicPr>
          <p:cNvPr id="5" name="Рисунок 4" descr="C:\Users\User\Music\PP 01.01\Диаграммы\Диаграмма деятельности ПП.drawi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086" y="987806"/>
            <a:ext cx="5005981" cy="5807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C:\Users\User\Music\PP 01.01\Диаграммы\Диаграмма последовательности ПП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0" y="1203890"/>
            <a:ext cx="6188850" cy="5406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7352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890" y="343949"/>
            <a:ext cx="9882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Проектирование программного модуля</a:t>
            </a:r>
            <a:endParaRPr lang="ru-RU" sz="4000" dirty="0"/>
          </a:p>
        </p:txBody>
      </p:sp>
      <p:pic>
        <p:nvPicPr>
          <p:cNvPr id="7" name="Рисунок 6" descr="C:\Users\User\Downloads\Вариантов исп ПП.drawi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0" y="2261406"/>
            <a:ext cx="5636260" cy="3509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 descr="C:\Users\User\Music\Диаграммы\ER диаграмма ПП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484" y="1237949"/>
            <a:ext cx="6009739" cy="54145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211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890" y="343949"/>
            <a:ext cx="11526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Пользовательский интерфейс </a:t>
            </a:r>
            <a:r>
              <a:rPr lang="ru-RU" sz="4000" dirty="0" smtClean="0"/>
              <a:t>десктоп приложения</a:t>
            </a:r>
            <a:endParaRPr lang="ru-RU" sz="4000" dirty="0"/>
          </a:p>
        </p:txBody>
      </p:sp>
      <p:pic>
        <p:nvPicPr>
          <p:cNvPr id="5" name="Рисунок 4" descr="C:\Users\User\Music\ПП 01.01\Десктоп\Макет\Администратор\Сводка панели администратора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05" y="1865567"/>
            <a:ext cx="5763236" cy="400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 descr="C:\Users\User\Music\ПП 01.01\Десктоп\Макет\Администратор\Отчеты и графики панели администратора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222" y="1784081"/>
            <a:ext cx="5917147" cy="427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073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890" y="343949"/>
            <a:ext cx="11526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Пользовательский интерфейс </a:t>
            </a:r>
            <a:r>
              <a:rPr lang="ru-RU" sz="4000" dirty="0" smtClean="0"/>
              <a:t>десктоп приложения</a:t>
            </a:r>
            <a:endParaRPr lang="ru-RU" sz="4000" dirty="0"/>
          </a:p>
        </p:txBody>
      </p:sp>
      <p:pic>
        <p:nvPicPr>
          <p:cNvPr id="6" name="Рисунок 5" descr="C:\Users\User\Music\ПП 01.01\Десктоп\Макет\Абонент\Профиль абонента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0" y="1080059"/>
            <a:ext cx="5962063" cy="268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 descr="C:\Users\User\Music\ПП 01.01\Десктоп\Макет\Абонент\Новые тарифы и услуги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953" y="3867325"/>
            <a:ext cx="5995047" cy="2886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 descr="C:\Users\User\Music\ПП 01.01\Десктоп\Макет\Абонент\Заявки абонента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268" y="1080059"/>
            <a:ext cx="5862213" cy="268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 descr="C:\Users\User\Music\ПП 01.01\Десктоп\Макет\Абонент\Баланс и платежи абонента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0" y="3867325"/>
            <a:ext cx="5863906" cy="28866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864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890" y="343949"/>
            <a:ext cx="1215564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dirty="0"/>
              <a:t>Пользовательский интерфейс </a:t>
            </a:r>
            <a:r>
              <a:rPr lang="ru-RU" sz="3800" dirty="0" smtClean="0"/>
              <a:t>мобильного приложения</a:t>
            </a:r>
            <a:endParaRPr lang="ru-RU" sz="3800" dirty="0"/>
          </a:p>
        </p:txBody>
      </p:sp>
      <p:pic>
        <p:nvPicPr>
          <p:cNvPr id="10" name="Рисунок 9" descr="C:\Users\User\Music\ПП 01.01\Мобилка\Макет\Профиль в личном кабинете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97" y="1178693"/>
            <a:ext cx="2571103" cy="51382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Рисунок 10" descr="C:\Users\User\Music\ПП 01.01\Мобилка\Макет\Баланс и платежи в личном кабинете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853" y="1178692"/>
            <a:ext cx="2571103" cy="51382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Рисунок 11" descr="C:\Users\User\Music\ПП 01.01\Мобилка\Макет\Тарифы и услуги в личном кабинете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435" y="1178691"/>
            <a:ext cx="2646606" cy="51382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Рисунок 12" descr="C:\Users\User\Music\ПП 01.01\Мобилка\Макет\Заявки в личном кабинете.pn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521" y="1178691"/>
            <a:ext cx="2571103" cy="51382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015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890" y="343949"/>
            <a:ext cx="1215564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dirty="0" smtClean="0"/>
              <a:t>Стек технологий</a:t>
            </a:r>
          </a:p>
          <a:p>
            <a:endParaRPr lang="ru-RU" sz="3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34890" y="1062711"/>
            <a:ext cx="1178653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Для разработки настольного приложения использовались язык </a:t>
            </a:r>
            <a:r>
              <a:rPr lang="ru-RU" sz="2400" dirty="0" err="1"/>
              <a:t>Python</a:t>
            </a:r>
            <a:r>
              <a:rPr lang="ru-RU" sz="2400" dirty="0"/>
              <a:t> и библиотека PyQt6. В качестве СУБД выбрана </a:t>
            </a:r>
            <a:r>
              <a:rPr lang="ru-RU" sz="2400" dirty="0" err="1"/>
              <a:t>PostgreSQL</a:t>
            </a:r>
            <a:r>
              <a:rPr lang="ru-RU" sz="2400" dirty="0"/>
              <a:t>, взаимодействие с которой осуществляется через ORM </a:t>
            </a:r>
            <a:r>
              <a:rPr lang="ru-RU" sz="2400" dirty="0" err="1"/>
              <a:t>SQLAlchemy</a:t>
            </a:r>
            <a:r>
              <a:rPr lang="ru-RU" sz="2400" dirty="0"/>
              <a:t>. Мобильное приложение абонента планируется разрабатывать в среде </a:t>
            </a:r>
            <a:r>
              <a:rPr lang="ru-RU" sz="2400" dirty="0" err="1"/>
              <a:t>Android</a:t>
            </a:r>
            <a:r>
              <a:rPr lang="ru-RU" sz="2400" dirty="0"/>
              <a:t> </a:t>
            </a:r>
            <a:r>
              <a:rPr lang="ru-RU" sz="2400" dirty="0" err="1"/>
              <a:t>Studio</a:t>
            </a:r>
            <a:r>
              <a:rPr lang="ru-RU" sz="2400" dirty="0"/>
              <a:t> с использованием языка </a:t>
            </a:r>
            <a:r>
              <a:rPr lang="ru-RU" sz="2400" dirty="0" err="1"/>
              <a:t>Java</a:t>
            </a:r>
            <a:r>
              <a:rPr lang="ru-RU" sz="2400" dirty="0"/>
              <a:t>, что обеспечивает совместимость с устройствами на базе </a:t>
            </a:r>
            <a:r>
              <a:rPr lang="ru-RU" sz="2400" dirty="0" err="1"/>
              <a:t>Android</a:t>
            </a:r>
            <a:r>
              <a:rPr lang="ru-RU" sz="2400" dirty="0"/>
              <a:t>.</a:t>
            </a:r>
          </a:p>
        </p:txBody>
      </p:sp>
      <p:pic>
        <p:nvPicPr>
          <p:cNvPr id="2052" name="Picture 4" descr="pyqt6和Python发布exe安装包_pyqt 6 发布-CSDN博客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0" y="3222772"/>
            <a:ext cx="4012232" cy="224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Вводная по сложным запросам в SQLAlchemy / Хабр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1"/>
          <a:stretch/>
        </p:blipFill>
        <p:spPr bwMode="auto">
          <a:xfrm>
            <a:off x="721157" y="5048013"/>
            <a:ext cx="3642196" cy="128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Приложения в Google Play – Learn Android Studio &amp; Jav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499" y="3407328"/>
            <a:ext cx="2968304" cy="2968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ostgreSQL 14: встречаем новую версию популярной СУБД с открытым кодом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634" y="3597371"/>
            <a:ext cx="3455403" cy="2588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64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51" y="-49429"/>
            <a:ext cx="1215564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dirty="0" smtClean="0"/>
              <a:t>Тестовые наборы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201334" y="633669"/>
          <a:ext cx="5822950" cy="29352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4284">
                  <a:extLst>
                    <a:ext uri="{9D8B030D-6E8A-4147-A177-3AD203B41FA5}">
                      <a16:colId xmlns:a16="http://schemas.microsoft.com/office/drawing/2014/main" val="1163157590"/>
                    </a:ext>
                  </a:extLst>
                </a:gridCol>
                <a:gridCol w="3262681">
                  <a:extLst>
                    <a:ext uri="{9D8B030D-6E8A-4147-A177-3AD203B41FA5}">
                      <a16:colId xmlns:a16="http://schemas.microsoft.com/office/drawing/2014/main" val="1288830307"/>
                    </a:ext>
                  </a:extLst>
                </a:gridCol>
                <a:gridCol w="1528445">
                  <a:extLst>
                    <a:ext uri="{9D8B030D-6E8A-4147-A177-3AD203B41FA5}">
                      <a16:colId xmlns:a16="http://schemas.microsoft.com/office/drawing/2014/main" val="1929378070"/>
                    </a:ext>
                  </a:extLst>
                </a:gridCol>
                <a:gridCol w="637540">
                  <a:extLst>
                    <a:ext uri="{9D8B030D-6E8A-4147-A177-3AD203B41FA5}">
                      <a16:colId xmlns:a16="http://schemas.microsoft.com/office/drawing/2014/main" val="129214534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Модуль авторизации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970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1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Вход администратора с корректными учетными данными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Логин: </a:t>
                      </a:r>
                      <a:r>
                        <a:rPr lang="ru-RU" sz="1000" b="1" dirty="0" err="1">
                          <a:effectLst/>
                        </a:rPr>
                        <a:t>admin</a:t>
                      </a:r>
                      <a:r>
                        <a:rPr lang="ru-RU" sz="1000" b="1" dirty="0">
                          <a:effectLst/>
                        </a:rPr>
                        <a:t>, пароль: </a:t>
                      </a:r>
                      <a:r>
                        <a:rPr lang="ru-RU" sz="1000" b="1" dirty="0" err="1">
                          <a:effectLst/>
                        </a:rPr>
                        <a:t>admi</a:t>
                      </a:r>
                      <a:r>
                        <a:rPr lang="en-US" sz="1000" b="1" dirty="0">
                          <a:effectLst/>
                        </a:rPr>
                        <a:t>n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6469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2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Вход администратора с неверным логином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Логин: admin</a:t>
                      </a:r>
                      <a:r>
                        <a:rPr lang="en-US" sz="1000" b="1">
                          <a:effectLst/>
                        </a:rPr>
                        <a:t>1</a:t>
                      </a:r>
                      <a:r>
                        <a:rPr lang="ru-RU" sz="1000" b="1">
                          <a:effectLst/>
                        </a:rPr>
                        <a:t>, пароль: admin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0036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3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Вход администратора с неверным паролем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Логин: </a:t>
                      </a:r>
                      <a:r>
                        <a:rPr lang="ru-RU" sz="1000" b="1" dirty="0" err="1">
                          <a:effectLst/>
                        </a:rPr>
                        <a:t>admin</a:t>
                      </a:r>
                      <a:r>
                        <a:rPr lang="ru-RU" sz="1000" b="1" dirty="0">
                          <a:effectLst/>
                        </a:rPr>
                        <a:t>, пароль: 123456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2906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4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Запрет входа неактивного сотрудника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Логин</a:t>
                      </a:r>
                      <a:r>
                        <a:rPr lang="en-US" sz="1000" b="1">
                          <a:effectLst/>
                        </a:rPr>
                        <a:t>: operator1 (is_active=false)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3245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5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Вход клиента с правильными данными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Логин: user1, пароль: user123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395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6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Вход клиента с неправильным логином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Логин: user999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085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7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Вход клиента с неправильным паролем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Логин: user1, пароль: 000000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0149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8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Ошибка при вводе пустых полей логина/пароля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653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9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Корректное отображение сообщений об ошибке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249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10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Запрет доступа к клиентскому интерфейсу без авторизации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 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5238880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6212997" y="786166"/>
          <a:ext cx="5816815" cy="58704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87119">
                  <a:extLst>
                    <a:ext uri="{9D8B030D-6E8A-4147-A177-3AD203B41FA5}">
                      <a16:colId xmlns:a16="http://schemas.microsoft.com/office/drawing/2014/main" val="1259458619"/>
                    </a:ext>
                  </a:extLst>
                </a:gridCol>
                <a:gridCol w="1526169">
                  <a:extLst>
                    <a:ext uri="{9D8B030D-6E8A-4147-A177-3AD203B41FA5}">
                      <a16:colId xmlns:a16="http://schemas.microsoft.com/office/drawing/2014/main" val="1092988327"/>
                    </a:ext>
                  </a:extLst>
                </a:gridCol>
                <a:gridCol w="903527">
                  <a:extLst>
                    <a:ext uri="{9D8B030D-6E8A-4147-A177-3AD203B41FA5}">
                      <a16:colId xmlns:a16="http://schemas.microsoft.com/office/drawing/2014/main" val="3968584938"/>
                    </a:ext>
                  </a:extLst>
                </a:gridCol>
              </a:tblGrid>
              <a:tr h="116968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Модуль администратора – абоненты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686745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Загрузка списка абонентов из базы данных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Данные из БД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0261172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Корректное выравнивание столбцов таблицы абонентов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2020517"/>
                  </a:ext>
                </a:extLst>
              </a:tr>
              <a:tr h="9357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Создание нового абонента через форму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ФИО: Иванов И.И.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Телефон: +79832752121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E-mail: </a:t>
                      </a:r>
                      <a:r>
                        <a:rPr lang="en-US" sz="1000" b="1" u="sng" dirty="0">
                          <a:effectLst/>
                          <a:hlinkClick r:id="rId2"/>
                        </a:rPr>
                        <a:t>ivanon@mail.ru</a:t>
                      </a:r>
                      <a:endParaRPr lang="ru-RU" sz="1000" b="1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Адрес</a:t>
                      </a:r>
                      <a:r>
                        <a:rPr lang="en-US" sz="1000" b="1" dirty="0">
                          <a:effectLst/>
                        </a:rPr>
                        <a:t>: </a:t>
                      </a:r>
                      <a:r>
                        <a:rPr lang="ru-RU" sz="1000" b="1" dirty="0">
                          <a:effectLst/>
                        </a:rPr>
                        <a:t>Дружбы</a:t>
                      </a:r>
                      <a:r>
                        <a:rPr lang="en-US" sz="1000" b="1" dirty="0">
                          <a:effectLst/>
                        </a:rPr>
                        <a:t> 30</a:t>
                      </a:r>
                      <a:endParaRPr lang="ru-RU" sz="1000" b="1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Статус: Активен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Баланс: 0</a:t>
                      </a:r>
                      <a:br>
                        <a:rPr lang="ru-RU" sz="1000" b="1" dirty="0">
                          <a:effectLst/>
                        </a:rPr>
                      </a:br>
                      <a:r>
                        <a:rPr lang="ru-RU" sz="1000" b="1" dirty="0">
                          <a:effectLst/>
                        </a:rPr>
                        <a:t>Логин: </a:t>
                      </a:r>
                      <a:r>
                        <a:rPr lang="en-US" sz="1000" b="1" dirty="0">
                          <a:effectLst/>
                        </a:rPr>
                        <a:t>sub</a:t>
                      </a:r>
                      <a:r>
                        <a:rPr lang="ru-RU" sz="1000" b="1" dirty="0">
                          <a:effectLst/>
                        </a:rPr>
                        <a:t>1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Пароль: </a:t>
                      </a:r>
                      <a:r>
                        <a:rPr lang="en-US" sz="1000" b="1" dirty="0">
                          <a:effectLst/>
                        </a:rPr>
                        <a:t>client</a:t>
                      </a:r>
                      <a:r>
                        <a:rPr lang="ru-RU" sz="1000" b="1" dirty="0">
                          <a:effectLst/>
                        </a:rPr>
                        <a:t>1</a:t>
                      </a:r>
                      <a:endParaRPr lang="ru-R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73478954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Проверка валидации телефона при добавлении абонента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34266508"/>
                  </a:ext>
                </a:extLst>
              </a:tr>
              <a:tr h="2339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Редактирование существующего абонента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Логин: </a:t>
                      </a:r>
                      <a:r>
                        <a:rPr lang="en-US" sz="1000" b="1">
                          <a:effectLst/>
                        </a:rPr>
                        <a:t>sub</a:t>
                      </a:r>
                      <a:r>
                        <a:rPr lang="ru-RU" sz="1000" b="1">
                          <a:effectLst/>
                        </a:rPr>
                        <a:t>1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Пароль: </a:t>
                      </a:r>
                      <a:r>
                        <a:rPr lang="en-US" sz="1000" b="1">
                          <a:effectLst/>
                        </a:rPr>
                        <a:t>client1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34889397"/>
                  </a:ext>
                </a:extLst>
              </a:tr>
              <a:tr h="2339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Удаление абонента</a:t>
                      </a:r>
                      <a:endParaRPr lang="ru-R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Логин: </a:t>
                      </a:r>
                      <a:r>
                        <a:rPr lang="en-US" sz="1000" b="1">
                          <a:effectLst/>
                        </a:rPr>
                        <a:t>sub</a:t>
                      </a:r>
                      <a:r>
                        <a:rPr lang="ru-RU" sz="1000" b="1">
                          <a:effectLst/>
                        </a:rPr>
                        <a:t>1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Пароль: </a:t>
                      </a:r>
                      <a:r>
                        <a:rPr lang="en-US" sz="1000" b="1">
                          <a:effectLst/>
                        </a:rPr>
                        <a:t>client1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89361762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Отображение логина и некриптованного пароля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4856948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Проверка отображения статуса абонента</a:t>
                      </a:r>
                      <a:endParaRPr lang="ru-R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03104032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Обновление списка абонентов после изменений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8364522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Отображение комментариев абонента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6845587"/>
                  </a:ext>
                </a:extLst>
              </a:tr>
              <a:tr h="116968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Модуль администратора – тарифы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504956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Загрузка списка тарифов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Тестовые тарифы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86413510"/>
                  </a:ext>
                </a:extLst>
              </a:tr>
              <a:tr h="9357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Создание нового тарифа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Название: VIP Дом 1000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Код: VIP1000</a:t>
                      </a:r>
                      <a:br>
                        <a:rPr lang="ru-RU" sz="1000" b="1">
                          <a:effectLst/>
                        </a:rPr>
                      </a:br>
                      <a:r>
                        <a:rPr lang="ru-RU" sz="1000" b="1">
                          <a:effectLst/>
                        </a:rPr>
                        <a:t>Скорость: 1000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Абонплата:180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Тип подключения: Ethernet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Описание: Семейный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Тариф активен: да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71828163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Проверка валидации стоимости тарифа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6668797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Редактирование тарифа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4597893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Удаление тарифа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92559555"/>
                  </a:ext>
                </a:extLst>
              </a:tr>
              <a:tr h="128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Отображение скорости и типа подключения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2376336"/>
                  </a:ext>
                </a:extLst>
              </a:tr>
              <a:tr h="2339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Запрет удаления тарифа, используемого в договорах</a:t>
                      </a:r>
                      <a:endParaRPr lang="ru-R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Тариф привязанный к договору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9192" marR="4919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>
                          <a:effectLst/>
                        </a:rPr>
                        <a:t> </a:t>
                      </a:r>
                      <a:endParaRPr lang="ru-R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0250393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99429" y="3573960"/>
          <a:ext cx="5824855" cy="329413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92170">
                  <a:extLst>
                    <a:ext uri="{9D8B030D-6E8A-4147-A177-3AD203B41FA5}">
                      <a16:colId xmlns:a16="http://schemas.microsoft.com/office/drawing/2014/main" val="645325135"/>
                    </a:ext>
                  </a:extLst>
                </a:gridCol>
                <a:gridCol w="1528445">
                  <a:extLst>
                    <a:ext uri="{9D8B030D-6E8A-4147-A177-3AD203B41FA5}">
                      <a16:colId xmlns:a16="http://schemas.microsoft.com/office/drawing/2014/main" val="3806089633"/>
                    </a:ext>
                  </a:extLst>
                </a:gridCol>
                <a:gridCol w="637540">
                  <a:extLst>
                    <a:ext uri="{9D8B030D-6E8A-4147-A177-3AD203B41FA5}">
                      <a16:colId xmlns:a16="http://schemas.microsoft.com/office/drawing/2014/main" val="2611136157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41970754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Личный кабинет клиента – профиль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106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Отображение профиля клиента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Тестовые данные из БД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00050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Отображение статуса подключения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Тестовые данные из БД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4391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Отображение текущего тарифа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Тестовые данные из БД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41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Отображение баланса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Тестовые данные из БД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4143039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Личный кабинет клиента – платежи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520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Загрузка истории платежей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Тестовые данные из БД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33935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Корректное отображение способа оплаты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Тестовые данные из БД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607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Форматирование даты и суммы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Тестовые данные из БД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3802400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Личный кабинет клиента – заявки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856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Создание новой заявки клиентом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Тип: Нет интернета</a:t>
                      </a:r>
                      <a:endParaRPr lang="ru-RU" sz="1100" b="1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Описание: Сигнал пропал после грозы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971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Отображение статусов заявок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Тестовые данные из БД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67661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Сортировка заявок по дате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3645379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Личный кабинет клиента – тарифы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49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Отображение всех тарифов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Тестовые данные из БД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09447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Корректное отображение текущего тарифного плана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Тестовые данные из БД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74466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Обновление тарифов по кнопке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-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effectLst/>
                        </a:rPr>
                        <a:t> 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 dirty="0">
                          <a:effectLst/>
                        </a:rPr>
                        <a:t> 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80507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03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97554" y="2583699"/>
            <a:ext cx="9181148" cy="1470025"/>
          </a:xfrm>
        </p:spPr>
        <p:txBody>
          <a:bodyPr>
            <a:noAutofit/>
          </a:bodyPr>
          <a:lstStyle/>
          <a:p>
            <a:r>
              <a:rPr lang="ru-RU" sz="3600" dirty="0"/>
              <a:t>по производственной практике</a:t>
            </a:r>
            <a:br>
              <a:rPr lang="ru-RU" sz="3600" dirty="0"/>
            </a:br>
            <a:r>
              <a:rPr lang="ru-RU" sz="3600" dirty="0"/>
              <a:t>по профессиональному модулю</a:t>
            </a:r>
            <a:br>
              <a:rPr lang="ru-RU" sz="3600" dirty="0"/>
            </a:br>
            <a:r>
              <a:rPr lang="ru-RU" sz="3600" b="1" dirty="0"/>
              <a:t>ПМ.01. РАЗРАБОТКА МОДУЛЕЙ ПРОГРАММНОГО ОБЕСПЕЧЕНИЯ ДЛЯ КОМПЬЮТЕРНЫХ </a:t>
            </a:r>
            <a:r>
              <a:rPr lang="ru-RU" sz="3600" b="1" dirty="0" smtClean="0"/>
              <a:t>СИСТЕМ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021237" y="4704348"/>
            <a:ext cx="4475439" cy="1752600"/>
          </a:xfrm>
        </p:spPr>
        <p:txBody>
          <a:bodyPr>
            <a:noAutofit/>
          </a:bodyPr>
          <a:lstStyle/>
          <a:p>
            <a:pPr algn="l"/>
            <a:r>
              <a:rPr lang="ru-RU" sz="1800" spc="-1" dirty="0">
                <a:latin typeface="Century Gothic"/>
              </a:rPr>
              <a:t>Выполнил</a:t>
            </a:r>
            <a:r>
              <a:rPr lang="en-US" sz="1800" spc="-1" dirty="0">
                <a:latin typeface="Century Gothic"/>
              </a:rPr>
              <a:t>: </a:t>
            </a:r>
            <a:r>
              <a:rPr lang="ru-RU" sz="1800" spc="-1" dirty="0">
                <a:latin typeface="Century Gothic"/>
              </a:rPr>
              <a:t>студент группы ИС(ТП</a:t>
            </a:r>
            <a:r>
              <a:rPr lang="ru-RU" sz="1800" spc="-1" dirty="0" smtClean="0">
                <a:latin typeface="Century Gothic"/>
              </a:rPr>
              <a:t>)-41</a:t>
            </a:r>
            <a:r>
              <a:rPr lang="en-US" sz="1800" spc="-1" dirty="0">
                <a:latin typeface="Century Gothic"/>
              </a:rPr>
              <a:t>,</a:t>
            </a:r>
            <a:endParaRPr lang="ru-RU" sz="1800" spc="-1" dirty="0">
              <a:latin typeface="Century Gothic"/>
            </a:endParaRPr>
          </a:p>
          <a:p>
            <a:pPr algn="l"/>
            <a:r>
              <a:rPr lang="ru-RU" sz="1800" spc="-1" dirty="0" smtClean="0">
                <a:latin typeface="Century Gothic"/>
              </a:rPr>
              <a:t>Гуляев Дмитрий Витальевич</a:t>
            </a:r>
            <a:endParaRPr lang="ru-RU" sz="1800" spc="-1" dirty="0">
              <a:latin typeface="Century Gothic"/>
            </a:endParaRPr>
          </a:p>
          <a:p>
            <a:pPr algn="l"/>
            <a:r>
              <a:rPr lang="ru-RU" sz="1800" spc="-1" dirty="0">
                <a:latin typeface="Century Gothic"/>
              </a:rPr>
              <a:t>Руководитель</a:t>
            </a:r>
            <a:r>
              <a:rPr lang="en-US" sz="1800" spc="-1" dirty="0">
                <a:latin typeface="Century Gothic"/>
              </a:rPr>
              <a:t>:</a:t>
            </a:r>
            <a:endParaRPr lang="ru-RU" sz="1800" spc="-1" dirty="0">
              <a:latin typeface="Century Gothic"/>
            </a:endParaRPr>
          </a:p>
          <a:p>
            <a:pPr algn="l"/>
            <a:r>
              <a:rPr lang="ru-RU" sz="1800" spc="-1" dirty="0" err="1" smtClean="0">
                <a:latin typeface="Century Gothic"/>
              </a:rPr>
              <a:t>Заливаха</a:t>
            </a:r>
            <a:r>
              <a:rPr lang="ru-RU" sz="1800" spc="-1" dirty="0" smtClean="0">
                <a:latin typeface="Century Gothic"/>
              </a:rPr>
              <a:t> Анастасия Владимировна</a:t>
            </a:r>
            <a:endParaRPr lang="ru-RU" sz="1800" spc="-1" dirty="0">
              <a:latin typeface="Century Gothic"/>
            </a:endParaRPr>
          </a:p>
          <a:p>
            <a:pPr algn="l"/>
            <a:endParaRPr lang="ru-RU" sz="2000" spc="-1" dirty="0">
              <a:latin typeface="Century Gothic"/>
            </a:endParaRPr>
          </a:p>
          <a:p>
            <a:pPr algn="l"/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664473" y="224589"/>
            <a:ext cx="8907438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Республики Хакасия «Хакасский политехнический колледж»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Специальность 09.02.07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Информационные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системы и программирование 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квалификация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«Технический писатель»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spc="-1" dirty="0">
              <a:latin typeface="Arial"/>
            </a:endParaRP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155020" y="6359786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  <a:cs typeface="Arial" panose="020B0604020202020204" pitchFamily="34" charset="0"/>
              </a:rPr>
              <a:t>Абакан, 2025г.</a:t>
            </a:r>
          </a:p>
        </p:txBody>
      </p:sp>
    </p:spTree>
    <p:extLst>
      <p:ext uri="{BB962C8B-B14F-4D97-AF65-F5344CB8AC3E}">
        <p14:creationId xmlns:p14="http://schemas.microsoft.com/office/powerpoint/2010/main" val="133732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Microsoft Office PowerPoint</Application>
  <PresentationFormat>Широкоэкранный</PresentationFormat>
  <Paragraphs>254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Тема Office</vt:lpstr>
      <vt:lpstr>по производственной практике по профессиональному модулю ПМ.01. РАЗРАБОТКА МОДУЛЕЙ ПРОГРАММНОГО ОБЕСПЕЧЕНИЯ ДЛЯ КОМПЬЮТЕРНЫХ СИСТЕМ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 производственной практике по профессиональному модулю ПМ.01. РАЗРАБОТКА МОДУЛЕЙ ПРОГРАММНОГО ОБЕСПЕЧЕНИЯ ДЛЯ КОМПЬЮТЕРНЫХ СИСТЕМ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 производственной практике по профессиональному модулю ПМ.01. РАЗРАБОТКА МОДУЛЕЙ ПРОГРАММНОГО ОБЕСПЕЧЕНИЯ ДЛЯ КОМПЬЮТЕРНЫХ СИСТЕМ</dc:title>
  <dc:creator>RePack by Diakov</dc:creator>
  <cp:lastModifiedBy>RePack by Diakov</cp:lastModifiedBy>
  <cp:revision>1</cp:revision>
  <dcterms:created xsi:type="dcterms:W3CDTF">2025-12-26T16:04:28Z</dcterms:created>
  <dcterms:modified xsi:type="dcterms:W3CDTF">2025-12-26T16:04:46Z</dcterms:modified>
</cp:coreProperties>
</file>